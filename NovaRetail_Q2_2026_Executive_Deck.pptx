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2664B4"/>
            </a:solidFill>
            <a:ln w="28575">
              <a:solidFill>
                <a:srgbClr val="2664B4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460</c:v>
                </c:pt>
                <c:pt idx="2">
                  <c:v>440</c:v>
                </c:pt>
                <c:pt idx="3">
                  <c:v>465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8575">
                    <a:solidFill>
                      <a:srgbClr val="2664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F15-44EF-94BF-560B31AB25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1F9993"/>
            </a:solidFill>
            <a:ln w="28575">
              <a:solidFill>
                <a:srgbClr val="1F9993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310</c:v>
                </c:pt>
                <c:pt idx="1">
                  <c:v>350</c:v>
                </c:pt>
                <c:pt idx="2">
                  <c:v>330</c:v>
                </c:pt>
                <c:pt idx="3">
                  <c:v>345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8575">
                    <a:solidFill>
                      <a:srgbClr val="1F999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F15-44EF-94BF-560B31AB25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APAC</c:v>
                </c:pt>
              </c:strCache>
            </c:strRef>
          </c:tx>
          <c:spPr>
            <a:solidFill>
              <a:srgbClr val="2E8B57"/>
            </a:solidFill>
            <a:ln w="28575">
              <a:solidFill>
                <a:srgbClr val="2E8B57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260</c:v>
                </c:pt>
                <c:pt idx="1">
                  <c:v>300</c:v>
                </c:pt>
                <c:pt idx="2">
                  <c:v>305</c:v>
                </c:pt>
                <c:pt idx="3">
                  <c:v>330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8575">
                    <a:solidFill>
                      <a:srgbClr val="2E8B5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F15-44EF-94BF-560B31AB25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C33F3F"/>
            </a:solidFill>
            <a:ln w="28575">
              <a:solidFill>
                <a:srgbClr val="C33F3F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150</c:v>
                </c:pt>
                <c:pt idx="1">
                  <c:v>165</c:v>
                </c:pt>
                <c:pt idx="2">
                  <c:v>150</c:v>
                </c:pt>
                <c:pt idx="3">
                  <c:v>140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8575">
                    <a:solidFill>
                      <a:srgbClr val="C33F3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BF15-44EF-94BF-560B31AB25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>
              <a:solidFill>
                <a:srgbClr val="E0E6EE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Aptos"/>
                  </a:defRPr>
                </a:pPr>
                <a:r>
                  <a:rPr lang="en-US"/>
                  <a:t>Revenue ($M)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  <a:endParaRPr lang="en-US"/>
          </a:p>
        </c:txPr>
        <c:crossAx val="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Aptos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28575">
              <a:solidFill>
                <a:srgbClr val="2664B4"/>
              </a:solidFill>
            </a:ln>
          </c:spPr>
          <c:marker>
            <c:spPr>
              <a:solidFill>
                <a:srgbClr val="2664B4"/>
              </a:solidFill>
              <a:ln>
                <a:solidFill>
                  <a:srgbClr val="2664B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54</c:v>
                </c:pt>
                <c:pt idx="2">
                  <c:v>53</c:v>
                </c:pt>
                <c:pt idx="3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34-4485-9396-FE5C156EA2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ln w="28575">
              <a:solidFill>
                <a:srgbClr val="1F9993"/>
              </a:solidFill>
            </a:ln>
          </c:spPr>
          <c:marker>
            <c:spPr>
              <a:solidFill>
                <a:srgbClr val="1F9993"/>
              </a:solidFill>
              <a:ln>
                <a:solidFill>
                  <a:srgbClr val="1F9993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</c:v>
                </c:pt>
                <c:pt idx="1">
                  <c:v>50</c:v>
                </c:pt>
                <c:pt idx="2">
                  <c:v>51</c:v>
                </c:pt>
                <c:pt idx="3">
                  <c:v>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734-4485-9396-FE5C156EA2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APAC</c:v>
                </c:pt>
              </c:strCache>
            </c:strRef>
          </c:tx>
          <c:spPr>
            <a:ln w="28575">
              <a:solidFill>
                <a:srgbClr val="2E8B57"/>
              </a:solidFill>
            </a:ln>
          </c:spPr>
          <c:marker>
            <c:spPr>
              <a:solidFill>
                <a:srgbClr val="2E8B57"/>
              </a:solidFill>
              <a:ln>
                <a:solidFill>
                  <a:srgbClr val="2E8B57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58</c:v>
                </c:pt>
                <c:pt idx="1">
                  <c:v>60</c:v>
                </c:pt>
                <c:pt idx="2">
                  <c:v>61</c:v>
                </c:pt>
                <c:pt idx="3">
                  <c:v>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734-4485-9396-FE5C156EA2D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spPr>
            <a:ln w="28575">
              <a:solidFill>
                <a:srgbClr val="C33F3F"/>
              </a:solidFill>
            </a:ln>
          </c:spPr>
          <c:marker>
            <c:spPr>
              <a:solidFill>
                <a:srgbClr val="C33F3F"/>
              </a:solidFill>
              <a:ln>
                <a:solidFill>
                  <a:srgbClr val="C33F3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38</c:v>
                </c:pt>
                <c:pt idx="1">
                  <c:v>35</c:v>
                </c:pt>
                <c:pt idx="2">
                  <c:v>32</c:v>
                </c:pt>
                <c:pt idx="3">
                  <c:v>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734-4485-9396-FE5C156EA2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0E6EE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Aptos"/>
                  </a:defRPr>
                </a:pPr>
                <a:r>
                  <a:rPr lang="en-US"/>
                  <a:t>NPS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Apto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Stockout rate</c:v>
                </c:pt>
              </c:strCache>
            </c:strRef>
          </c:tx>
          <c:spPr>
            <a:solidFill>
              <a:srgbClr val="C33F3F"/>
            </a:solidFill>
            <a:ln w="28575">
              <a:solidFill>
                <a:srgbClr val="C33F3F"/>
              </a:solidFill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Latin America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3.7999999999999999E-2</c:v>
                </c:pt>
                <c:pt idx="1">
                  <c:v>0.04</c:v>
                </c:pt>
                <c:pt idx="2">
                  <c:v>8.5000000000000006E-2</c:v>
                </c:pt>
                <c:pt idx="3">
                  <c:v>0.125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8575">
                    <a:solidFill>
                      <a:srgbClr val="C33F3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865-4518-A946-0434A555CA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0.14000000000000001"/>
          <c:min val="0"/>
        </c:scaling>
        <c:delete val="0"/>
        <c:axPos val="b"/>
        <c:majorGridlines>
          <c:spPr>
            <a:ln>
              <a:solidFill>
                <a:srgbClr val="E0E6EE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Aptos"/>
                  </a:defRPr>
                </a:pPr>
                <a:r>
                  <a:rPr lang="en-US"/>
                  <a:t>Stockout rate</a:t>
                </a:r>
              </a:p>
            </c:rich>
          </c:tx>
          <c:overlay val="0"/>
        </c:title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  <a:endParaRPr lang="en-US"/>
          </a:p>
        </c:txPr>
        <c:crossAx val="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deck_title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NovaRetail — Quarterly Business Review</a:t>
            </a:r>
            <a:endParaRPr lang="en-US" sz="3200" dirty="0"/>
          </a:p>
        </p:txBody>
      </p:sp>
      <p:sp>
        <p:nvSpPr>
          <p:cNvPr id="3" name="subtitle_1"/>
          <p:cNvSpPr txBox="1"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  <a:defRPr sz="1500" b="0">
                <a:solidFill>
                  <a:srgbClr val="5B687A"/>
                </a:solidFill>
                <a:latin typeface="Aptos"/>
              </a:defRPr>
            </a:pPr>
            <a:r>
              <a:t>Q2 2026 • Executive Review</a:t>
            </a:r>
            <a:endParaRPr lang="en-US" sz="1500" dirty="0"/>
          </a:p>
        </p:txBody>
      </p:sp>
      <p:sp>
        <p:nvSpPr>
          <p:cNvPr id="4" name="kpi1_box"/>
          <p:cNvSpPr/>
          <p:nvPr/>
        </p:nvSpPr>
        <p:spPr>
          <a:xfrm>
            <a:off x="548640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kpi1_value"/>
          <p:cNvSpPr txBox="1"/>
          <p:nvPr/>
        </p:nvSpPr>
        <p:spPr>
          <a:xfrm>
            <a:off x="685800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ctr">
              <a:lnSpc>
                <a:spcPct val="105000"/>
              </a:lnSpc>
              <a:spcAft>
                <a:spcPts val="0"/>
              </a:spcAft>
              <a:buNone/>
              <a:defRPr sz="2800" b="1">
                <a:solidFill>
                  <a:srgbClr val="1F9993"/>
                </a:solidFill>
                <a:latin typeface="Aptos"/>
              </a:defRPr>
            </a:pPr>
            <a:r>
              <a:t>$1.28B</a:t>
            </a:r>
            <a:endParaRPr lang="en-US" sz="3200" dirty="0"/>
          </a:p>
        </p:txBody>
      </p:sp>
      <p:sp>
        <p:nvSpPr>
          <p:cNvPr id="6" name="kpi1_label"/>
          <p:cNvSpPr txBox="1"/>
          <p:nvPr/>
        </p:nvSpPr>
        <p:spPr>
          <a:xfrm>
            <a:off x="685800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ctr">
              <a:lnSpc>
                <a:spcPct val="105000"/>
              </a:lnSpc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Aptos"/>
              </a:defRPr>
            </a:pPr>
            <a:r>
              <a:t>Q2 2026 Revenue</a:t>
            </a:r>
            <a:endParaRPr lang="en-US" sz="1100" dirty="0"/>
          </a:p>
        </p:txBody>
      </p:sp>
      <p:sp>
        <p:nvSpPr>
          <p:cNvPr id="7" name="kpi2_box"/>
          <p:cNvSpPr/>
          <p:nvPr/>
        </p:nvSpPr>
        <p:spPr>
          <a:xfrm>
            <a:off x="4367784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kpi2_value"/>
          <p:cNvSpPr txBox="1"/>
          <p:nvPr/>
        </p:nvSpPr>
        <p:spPr>
          <a:xfrm>
            <a:off x="4504944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ctr">
              <a:lnSpc>
                <a:spcPct val="105000"/>
              </a:lnSpc>
              <a:spcAft>
                <a:spcPts val="0"/>
              </a:spcAft>
              <a:buNone/>
              <a:defRPr sz="2800" b="1">
                <a:solidFill>
                  <a:srgbClr val="1F9993"/>
                </a:solidFill>
                <a:latin typeface="Aptos"/>
              </a:defRPr>
            </a:pPr>
            <a:r>
              <a:t>+4.5%</a:t>
            </a:r>
            <a:endParaRPr lang="en-US" sz="3200" dirty="0"/>
          </a:p>
        </p:txBody>
      </p:sp>
      <p:sp>
        <p:nvSpPr>
          <p:cNvPr id="9" name="kpi2_label"/>
          <p:cNvSpPr txBox="1"/>
          <p:nvPr/>
        </p:nvSpPr>
        <p:spPr>
          <a:xfrm>
            <a:off x="4504944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ctr">
              <a:lnSpc>
                <a:spcPct val="105000"/>
              </a:lnSpc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Aptos"/>
              </a:defRPr>
            </a:pPr>
            <a:r>
              <a:t>Quarter-over-Quarter Growth</a:t>
            </a:r>
            <a:endParaRPr lang="en-US" sz="1100" dirty="0"/>
          </a:p>
        </p:txBody>
      </p:sp>
      <p:sp>
        <p:nvSpPr>
          <p:cNvPr id="10" name="kpi3_box"/>
          <p:cNvSpPr/>
          <p:nvPr/>
        </p:nvSpPr>
        <p:spPr>
          <a:xfrm>
            <a:off x="8186928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kpi3_value"/>
          <p:cNvSpPr txBox="1"/>
          <p:nvPr/>
        </p:nvSpPr>
        <p:spPr>
          <a:xfrm>
            <a:off x="8324088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ctr">
              <a:lnSpc>
                <a:spcPct val="105000"/>
              </a:lnSpc>
              <a:spcAft>
                <a:spcPts val="0"/>
              </a:spcAft>
              <a:buNone/>
              <a:defRPr sz="2800" b="1">
                <a:solidFill>
                  <a:srgbClr val="1F9993"/>
                </a:solidFill>
                <a:latin typeface="Aptos"/>
              </a:defRPr>
            </a:pPr>
            <a:r>
              <a:t>53.4</a:t>
            </a:r>
            <a:endParaRPr lang="en-US" sz="3200" dirty="0"/>
          </a:p>
        </p:txBody>
      </p:sp>
      <p:sp>
        <p:nvSpPr>
          <p:cNvPr id="12" name="kpi3_label"/>
          <p:cNvSpPr txBox="1"/>
          <p:nvPr/>
        </p:nvSpPr>
        <p:spPr>
          <a:xfrm>
            <a:off x="8324088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ctr">
              <a:lnSpc>
                <a:spcPct val="105000"/>
              </a:lnSpc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Aptos"/>
              </a:defRPr>
            </a:pPr>
            <a:r>
              <a:t>Revenue-Weighted NPS</a:t>
            </a:r>
            <a:endParaRPr lang="en-US" sz="1100" dirty="0"/>
          </a:p>
        </p:txBody>
      </p:sp>
      <p:sp>
        <p:nvSpPr>
          <p:cNvPr id="13" name="summary_label"/>
          <p:cNvSpPr txBox="1"/>
          <p:nvPr/>
        </p:nvSpPr>
        <p:spPr>
          <a:xfrm>
            <a:off x="5486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4" name="summary_text"/>
          <p:cNvSpPr txBox="1"/>
          <p:nvPr/>
        </p:nvSpPr>
        <p:spPr>
          <a:xfrm>
            <a:off x="548640" y="3886200"/>
            <a:ext cx="9235440" cy="233172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700" b="0">
                <a:solidFill>
                  <a:srgbClr val="FFFFFF"/>
                </a:solidFill>
                <a:latin typeface="Aptos"/>
              </a:defRPr>
            </a:pPr>
            <a:r>
              <a:t>NovaRetail closed Q2 2026 with $1.28B in revenue, up 4.5% quarter over quarter. North America remains the largest market, while APAC is the clearest growth engine, combining a 27% revenue increase since Q3 2025 with the highest NPS. Latin America is the priority intervention: revenue contracted as returns, delivery delays, stockouts and fraud all worsened.</a:t>
            </a:r>
            <a:endParaRPr lang="en-US" sz="1800" dirty="0"/>
          </a:p>
        </p:txBody>
      </p:sp>
      <p:sp>
        <p:nvSpPr>
          <p:cNvPr id="17" name="footer_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  <a:defRPr sz="900" b="0">
                <a:solidFill>
                  <a:srgbClr val="5B687A"/>
                </a:solidFill>
                <a:latin typeface="Aptos"/>
              </a:defRPr>
            </a:pPr>
            <a:r>
              <a:t>NovaRetail Quarterly Business Review</a:t>
            </a:r>
            <a:endParaRPr lang="en-US" sz="950" dirty="0"/>
          </a:p>
        </p:txBody>
      </p:sp>
      <p:sp>
        <p:nvSpPr>
          <p:cNvPr id="18" name="page_num_1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FA3DAE-9FD9-07B2-9393-B75740C62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364" y="4315968"/>
            <a:ext cx="1581912" cy="1581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_2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  <a:defRPr sz="2600" b="1">
                <a:solidFill>
                  <a:srgbClr val="13294B"/>
                </a:solidFill>
                <a:latin typeface="Aptos"/>
              </a:defRPr>
            </a:pPr>
            <a:r>
              <a:t>APAC Accelerates as Latin America Contracts</a:t>
            </a:r>
            <a:endParaRPr lang="en-US" sz="2400" dirty="0"/>
          </a:p>
        </p:txBody>
      </p:sp>
      <p:sp>
        <p:nvSpPr>
          <p:cNvPr id="5" name="insights_performance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  <a:defRPr sz="1500" b="0">
                <a:solidFill>
                  <a:srgbClr val="13294B"/>
                </a:solidFill>
                <a:latin typeface="Aptos"/>
              </a:defRPr>
            </a:pPr>
            <a:r>
              <a:rPr dirty="0"/>
              <a:t>• APAC revenue rose from $260M to $330M, a 27% increase across the four-quarter period.</a:t>
            </a:r>
            <a:endParaRPr lang="en-US" sz="1350" dirty="0"/>
          </a:p>
          <a:p>
            <a:pPr>
              <a:lnSpc>
                <a:spcPct val="105000"/>
              </a:lnSpc>
              <a:spcAft>
                <a:spcPts val="800"/>
              </a:spcAft>
              <a:defRPr sz="1500" b="0">
                <a:solidFill>
                  <a:srgbClr val="13294B"/>
                </a:solidFill>
                <a:latin typeface="Aptos"/>
              </a:defRPr>
            </a:pPr>
            <a:r>
              <a:rPr dirty="0"/>
              <a:t>• North America remains the scale leader at $465M in Q2, despite uneven quarterly momentum.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 b="0">
                <a:solidFill>
                  <a:srgbClr val="13294B"/>
                </a:solidFill>
                <a:latin typeface="Aptos"/>
              </a:defRPr>
            </a:pPr>
            <a:r>
              <a:rPr dirty="0"/>
              <a:t>• Europe stabilized at $345M, above Q3 2025 but still below its Q4 </a:t>
            </a:r>
            <a:r>
              <a:rPr lang="en-US" dirty="0"/>
              <a:t>2025 </a:t>
            </a:r>
            <a:r>
              <a:rPr dirty="0"/>
              <a:t>peak.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 b="0">
                <a:solidFill>
                  <a:srgbClr val="13294B"/>
                </a:solidFill>
                <a:latin typeface="Aptos"/>
              </a:defRPr>
            </a:pPr>
            <a:r>
              <a:rPr dirty="0"/>
              <a:t>• Latin America fell to $140M while its returns rate reached 8.2%, the highest in the portfolio.</a:t>
            </a:r>
          </a:p>
        </p:txBody>
      </p:sp>
      <p:sp>
        <p:nvSpPr>
          <p:cNvPr id="8" name="footer_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  <a:defRPr sz="900" b="0">
                <a:solidFill>
                  <a:srgbClr val="5B687A"/>
                </a:solidFill>
                <a:latin typeface="Aptos"/>
              </a:defRPr>
            </a:pPr>
            <a:r>
              <a:t>NovaRetail Quarterly Business Review</a:t>
            </a:r>
            <a:endParaRPr lang="en-US" sz="950" dirty="0"/>
          </a:p>
        </p:txBody>
      </p:sp>
      <p:sp>
        <p:nvSpPr>
          <p:cNvPr id="9" name="page_num_2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DA488DB-1EA2-B37D-7AC9-C8AC342CE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709" y="4892040"/>
            <a:ext cx="1276003" cy="12760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_3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  <a:defRPr sz="2600" b="1">
                <a:solidFill>
                  <a:srgbClr val="13294B"/>
                </a:solidFill>
                <a:latin typeface="Aptos"/>
              </a:defRPr>
            </a:pPr>
            <a:r>
              <a:t>Customer Experience Gains Mask a Latin America Breakdown</a:t>
            </a:r>
            <a:endParaRPr lang="en-US" sz="2400" dirty="0"/>
          </a:p>
        </p:txBody>
      </p:sp>
      <p:sp>
        <p:nvSpPr>
          <p:cNvPr id="5" name="insights_customer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  <a:defRPr sz="1500" b="0">
                <a:solidFill>
                  <a:srgbClr val="13294B"/>
                </a:solidFill>
                <a:latin typeface="Aptos"/>
              </a:defRPr>
            </a:pPr>
            <a:r>
              <a:t>• APAC leads with NPS 62 and 92% CSAT, supported by the fastest delivery time at 2.2 days.</a:t>
            </a:r>
            <a:endParaRPr lang="en-US" sz="1350" dirty="0"/>
          </a:p>
          <a:p>
            <a:pPr>
              <a:lnSpc>
                <a:spcPct val="105000"/>
              </a:lnSpc>
              <a:spcAft>
                <a:spcPts val="800"/>
              </a:spcAft>
              <a:defRPr sz="1500" b="0">
                <a:solidFill>
                  <a:srgbClr val="13294B"/>
                </a:solidFill>
                <a:latin typeface="Aptos"/>
              </a:defRPr>
            </a:pPr>
            <a:r>
              <a:t>• North America and Europe improved to NPS 55 and 53 respectively.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 b="0">
                <a:solidFill>
                  <a:srgbClr val="13294B"/>
                </a:solidFill>
                <a:latin typeface="Aptos"/>
              </a:defRPr>
            </a:pPr>
            <a:r>
              <a:t>• Latin America NPS fell from 38 to 29 as average delivery time increased to 7.5 days.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 b="0">
                <a:solidFill>
                  <a:srgbClr val="13294B"/>
                </a:solidFill>
                <a:latin typeface="Aptos"/>
              </a:defRPr>
            </a:pPr>
            <a:r>
              <a:t>• Support tickets in Latin America climbed from 20K to 31K, signaling mounting service friction.</a:t>
            </a:r>
          </a:p>
        </p:txBody>
      </p:sp>
      <p:sp>
        <p:nvSpPr>
          <p:cNvPr id="8" name="footer_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  <a:defRPr sz="900" b="0">
                <a:solidFill>
                  <a:srgbClr val="5B687A"/>
                </a:solidFill>
                <a:latin typeface="Aptos"/>
              </a:defRPr>
            </a:pPr>
            <a:r>
              <a:t>NovaRetail Quarterly Business Review</a:t>
            </a:r>
            <a:endParaRPr lang="en-US" sz="950" dirty="0"/>
          </a:p>
        </p:txBody>
      </p:sp>
      <p:sp>
        <p:nvSpPr>
          <p:cNvPr id="9" name="page_num_3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C1CCC9D-D5A7-B638-CD9F-75CC5CCDB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934989"/>
            <a:ext cx="1282931" cy="12829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_4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  <a:defRPr sz="2600" b="1">
                <a:solidFill>
                  <a:srgbClr val="13294B"/>
                </a:solidFill>
                <a:latin typeface="Aptos"/>
              </a:defRPr>
            </a:pPr>
            <a:r>
              <a:t>Stockouts and Capacity Pressure Concentrate Risk</a:t>
            </a:r>
            <a:endParaRPr lang="en-US" sz="2400" dirty="0"/>
          </a:p>
        </p:txBody>
      </p:sp>
      <p:sp>
        <p:nvSpPr>
          <p:cNvPr id="5" name="insights_risk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  <a:defRPr sz="1500" b="0">
                <a:solidFill>
                  <a:srgbClr val="13294B"/>
                </a:solidFill>
                <a:latin typeface="Aptos"/>
              </a:defRPr>
            </a:pPr>
            <a:r>
              <a:t>• Latin America is the critical risk cluster: 12.5% stockouts, 10-day returns processing and 30 fraud incidents.</a:t>
            </a:r>
            <a:endParaRPr lang="en-US" sz="1350" dirty="0"/>
          </a:p>
          <a:p>
            <a:pPr>
              <a:lnSpc>
                <a:spcPct val="105000"/>
              </a:lnSpc>
              <a:spcAft>
                <a:spcPts val="800"/>
              </a:spcAft>
              <a:defRPr sz="1500" b="0">
                <a:solidFill>
                  <a:srgbClr val="13294B"/>
                </a:solidFill>
                <a:latin typeface="Aptos"/>
              </a:defRPr>
            </a:pPr>
            <a:r>
              <a:t>• APAC warehouse utilization reached 92%, creating a capacity constraint behind its growth story.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 b="0">
                <a:solidFill>
                  <a:srgbClr val="13294B"/>
                </a:solidFill>
                <a:latin typeface="Aptos"/>
              </a:defRPr>
            </a:pPr>
            <a:r>
              <a:t>• APAC stockouts increased to 8.5%, more than double North America and Europe.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 b="0">
                <a:solidFill>
                  <a:srgbClr val="13294B"/>
                </a:solidFill>
                <a:latin typeface="Aptos"/>
              </a:defRPr>
            </a:pPr>
            <a:r>
              <a:t>• North America and Europe remain comparatively controlled, with stockout rates at or below 4.0%.</a:t>
            </a:r>
          </a:p>
        </p:txBody>
      </p:sp>
      <p:sp>
        <p:nvSpPr>
          <p:cNvPr id="8" name="footer_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  <a:defRPr sz="900" b="0">
                <a:solidFill>
                  <a:srgbClr val="5B687A"/>
                </a:solidFill>
                <a:latin typeface="Aptos"/>
              </a:defRPr>
            </a:pPr>
            <a:r>
              <a:t>NovaRetail Quarterly Business Review</a:t>
            </a:r>
            <a:endParaRPr lang="en-US" sz="950" dirty="0"/>
          </a:p>
        </p:txBody>
      </p:sp>
      <p:sp>
        <p:nvSpPr>
          <p:cNvPr id="9" name="page_num_4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F0AA8F9-7E2B-2EF0-6EA2-9CFCD6BC4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892040"/>
            <a:ext cx="12192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_5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 &amp; Next Steps</a:t>
            </a:r>
            <a:endParaRPr lang="en-US" sz="2800" dirty="0"/>
          </a:p>
        </p:txBody>
      </p:sp>
      <p:sp>
        <p:nvSpPr>
          <p:cNvPr id="3" name="recommendations_text"/>
          <p:cNvSpPr txBox="1"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EXPAND APAC CAPACITY • Add near-term overflow capacity and approve a durable expansion plan before Q4.</a:t>
            </a:r>
            <a:endParaRPr lang="en-US" sz="1600" dirty="0"/>
          </a:p>
          <a:p>
            <a:pPr>
              <a:lnSpc>
                <a:spcPct val="110000"/>
              </a:lnSpc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STABILIZE LATIN AMERICA • Launch a 90-day service recovery sprint focused on delivery reliability, inventory availability and ticket resolution.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TIGHTEN FRAUD CONTROLS • Increase monitoring and exception review in Latin America, where incidents rose to 30.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• REDUCE RETURNS FRICTION • Diagnose Latin America’s 8.2% return rate and cut processing time from 10 days with clearer ownership and targets.</a:t>
            </a:r>
          </a:p>
        </p:txBody>
      </p:sp>
      <p:sp>
        <p:nvSpPr>
          <p:cNvPr id="6" name="closing_statement"/>
          <p:cNvSpPr txBox="1"/>
          <p:nvPr/>
        </p:nvSpPr>
        <p:spPr>
          <a:xfrm>
            <a:off x="548640" y="5897880"/>
            <a:ext cx="9235440" cy="457200"/>
          </a:xfrm>
          <a:prstGeom prst="rect">
            <a:avLst/>
          </a:prstGeom>
          <a:solidFill>
            <a:srgbClr val="13294B"/>
          </a:solidFill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  <a:defRPr sz="1700" b="1">
                <a:solidFill>
                  <a:srgbClr val="FFFFFF"/>
                </a:solidFill>
                <a:latin typeface="Aptos"/>
              </a:defRPr>
            </a:pPr>
            <a:r>
              <a:t>Protect the APAC growth engine while making Latin America recovery the next-quarter leadership priority.</a:t>
            </a:r>
            <a:endParaRPr lang="en-US" sz="1400" dirty="0"/>
          </a:p>
        </p:txBody>
      </p:sp>
      <p:sp>
        <p:nvSpPr>
          <p:cNvPr id="7" name="footer_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88900" tIns="38100" rIns="88900" bIns="38100" rtlCol="0" anchor="ctr"/>
          <a:lstStyle/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  <a:defRPr sz="900" b="0">
                <a:solidFill>
                  <a:srgbClr val="5B687A"/>
                </a:solidFill>
                <a:latin typeface="Aptos"/>
              </a:defRPr>
            </a:pPr>
            <a:r>
              <a:t>NovaRetail Quarterly Business Review</a:t>
            </a:r>
            <a:endParaRPr lang="en-US" sz="950" dirty="0"/>
          </a:p>
        </p:txBody>
      </p:sp>
      <p:sp>
        <p:nvSpPr>
          <p:cNvPr id="8" name="page_num_5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10930-E965-1703-8968-C630EDF67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709" y="1950026"/>
            <a:ext cx="1593273" cy="15932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6b25ea0-4570-44a6-87f5-dc0e92066634}" enabled="1" method="Privileged" siteId="{0483ae51-a627-466e-a7dd-de2ac7e1238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4586</TotalTime>
  <Words>468</Words>
  <Application>Microsoft Office PowerPoint</Application>
  <PresentationFormat>Widescreen</PresentationFormat>
  <Paragraphs>49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Subham Chowdhury</dc:creator>
  <cp:lastModifiedBy>Subham Chowdhury</cp:lastModifiedBy>
  <cp:revision>4</cp:revision>
  <dcterms:created xsi:type="dcterms:W3CDTF">2026-10-08T09:43:20Z</dcterms:created>
  <dcterms:modified xsi:type="dcterms:W3CDTF">2026-10-11T14:11:36Z</dcterms:modified>
</cp:coreProperties>
</file>